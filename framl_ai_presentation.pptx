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7315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FRAML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D6E4F0"/>
                </a:solidFill>
              </a:rPr>
              <a:t>Smart Segmentation  ·  Threshold Tuning  ·  AML </a:t>
            </a:r>
            <a:r>
              <a:rPr lang="en-US" sz="2000" b="0" dirty="0">
                <a:solidFill>
                  <a:srgbClr val="D6E4F0"/>
                </a:solidFill>
              </a:rPr>
              <a:t>P&amp;P</a:t>
            </a:r>
            <a:r>
              <a:rPr sz="2000" b="0" dirty="0">
                <a:solidFill>
                  <a:srgbClr val="D6E4F0"/>
                </a:solidFill>
              </a:rPr>
              <a:t>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Princeton Strategy Group</a:t>
            </a:r>
            <a:endParaRPr sz="1600" b="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E4F0"/>
                </a:solidFill>
              </a:rPr>
              <a:t>March 2026  |  Confidential</a:t>
            </a:r>
          </a:p>
        </p:txBody>
      </p:sp>
      <p:pic>
        <p:nvPicPr>
          <p:cNvPr id="8" name="Picture 7" descr="neural_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794" y="3598622"/>
            <a:ext cx="4979406" cy="27564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Component overview and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5756" y="1234440"/>
            <a:ext cx="2377440" cy="384048"/>
          </a:xfrm>
          <a:prstGeom prst="rect">
            <a:avLst/>
          </a:prstGeom>
          <a:solidFill>
            <a:srgbClr val="D6E4F0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05756" y="12527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5C99"/>
                </a:solidFill>
              </a:rPr>
              <a:t>User  / 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316" y="163677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856231"/>
            <a:ext cx="9445752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1874519"/>
            <a:ext cx="9445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5C99"/>
                </a:solidFill>
              </a:rPr>
              <a:t>Dash Web Application   (Flask  ·  Chat UI  ·  Side-panel quick prompts)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7316" y="233172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08476" y="2551176"/>
            <a:ext cx="4572000" cy="47548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8476" y="2569464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Orchestrator Agent   (intent routing  ·  agent dispatch)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3145536"/>
            <a:ext cx="8257031" cy="4572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71616" y="3026664"/>
            <a:ext cx="45720" cy="11887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51660" y="3145536"/>
            <a:ext cx="45720" cy="914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76188" y="3145536"/>
            <a:ext cx="45720" cy="914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08692" y="3145536"/>
            <a:ext cx="45720" cy="914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236976"/>
            <a:ext cx="3200400" cy="1417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236976"/>
            <a:ext cx="3200400" cy="47548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25526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Threshold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376732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threshold_tuning
sar_backtest
segment_stats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98848" y="3236976"/>
            <a:ext cx="3200400" cy="1417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98848" y="3236976"/>
            <a:ext cx="3200400" cy="47548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0288" y="325526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Segmentation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376732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ss_cluster_analysis
alerts_distribution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31352" y="3236976"/>
            <a:ext cx="3200400" cy="1417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531352" y="3236976"/>
            <a:ext cx="3200400" cy="47548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22792" y="325526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Policy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76732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ChromaDB RAG
11 AML docs  ·  241 chunks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46725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46725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94392" y="46725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864608"/>
            <a:ext cx="7424927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4882896"/>
            <a:ext cx="74249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2A4A"/>
                </a:solidFill>
              </a:rPr>
              <a:t>Alerts CSV   (5,035 rows  ·  customer transaction aggregates  ·  FP / FN labels)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31352" y="4864608"/>
            <a:ext cx="320040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31352" y="488289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2A4A"/>
                </a:solidFill>
              </a:rPr>
              <a:t>ChromaDB   (vector store
all-MiniLM-L6-v2 embeddings)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53583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94392" y="535838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550408"/>
            <a:ext cx="11640312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59612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8C00"/>
                </a:solidFill>
              </a:rPr>
              <a:t>Fine-Tuned Language Model  —  qwen-framl-v5   (Q4_K_M GGUF  ·  LM Studio  ·  localhost:1234/v1)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94360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0"/>
                </a:solidFill>
              </a:rPr>
              <a:t>Qwen 2.5 7B Instruct  ·  LoRA fine-tuned on 189 FRAML examples  ·  8,192 token context  ·  Serves all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End-to-end architecture: from user query to analytical insight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29184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C99"/>
                </a:solidFill>
              </a:rPr>
              <a:t>User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Dash web app
Chat interface
Side-panel quick prompts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29184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463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C99"/>
                </a:solidFill>
              </a:rPr>
              <a:t>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11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Intent routing
Query classification
Multi-agent coordination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29184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C99"/>
                </a:solidFill>
              </a:rPr>
              <a:t>Agents +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Threshold Agent  →  threshold_tuning / sar_backtest
Segmentation Agent  →  ss_cluster_analysis / alerts_distribution
Policy Agent  →  ChromaDB RAG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206240"/>
            <a:ext cx="9144000" cy="1371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63040" y="42976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99"/>
                </a:solidFill>
              </a:rPr>
              <a:t>Fine-Tuned Language Model (qwen-framl-v5  ·  Q4_K_M GGUF  ·  LM Studio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5488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Qwen 2.5 7B Instruct base  ·  LoRA fine-tuned on 189 FRAML examples  ·  8,192 token context  ·  localhost:1234/v1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931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</a:rPr>
              <a:t>↓  API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Three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Specialised AI agents, each with their own tools and system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3749039" cy="50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3749039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1389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Threshold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Analyses FP/FN trade-offs as alert thresholds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Tools: threshold_tuning, sar_backtest, segment_stats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Returns PRE-COMPUTED sweep tables — model copies verbatim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Covers Business and Individual segments across 3 threshold columns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325880"/>
            <a:ext cx="3749039" cy="50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51959" y="1325880"/>
            <a:ext cx="3749039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1389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Segmentation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0116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K-Means clustering of customer behavioural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0175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Tools: ss_cluster_analysis, alerts_distribution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023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Identifies high-risk clusters by transaction frequency and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029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Renders treemap and scatter visualisations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325880"/>
            <a:ext cx="3749039" cy="50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1325880"/>
            <a:ext cx="3749039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1389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Policy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0116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Retrieval-Augmented Generation over AML policy 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0175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ChromaDB knowledge base: 11 docs, 241 chunks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23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Sources: FFIEC Manual, Wolfsberg Guidance, 31 CFR Parts 1010/1020, FinCEN advisories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029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• Cites source documents; disclaims when KB has no relevant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Tool Interaction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How the model calls tools and generates accurate, grounded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46888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246888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89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  User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202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"What threshold gives a 90%
SAR catch rate for Individual
monthly transaction amount?"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325880"/>
            <a:ext cx="246888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34640" y="1325880"/>
            <a:ext cx="246888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389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2  Agent selects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9202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Threshold Agent identifies:
sar_backtest(
  segment=Individual,
  threshold_column=
  TRXN_AMT_MONTHLY
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1325880"/>
            <a:ext cx="246888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94960" y="1325880"/>
            <a:ext cx="246888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0" y="1389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3  Tool executes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19202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Python computes sweep against
real customer data.
Returns PRE-COMPUTED block
with exact numbers.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325880"/>
            <a:ext cx="246888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55279" y="1325880"/>
            <a:ext cx="246888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9" y="1389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4  Model responds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192024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Copies PRE-COMPUTED block
verbatim. Adds ONE sentence
of AML insight. Stops.
No hallucinated numbers.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23560"/>
            <a:ext cx="11612880" cy="7772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6875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2A4A"/>
                </a:solidFill>
              </a:rPr>
              <a:t>Key design principle: the model never computes numbers — Python does. The PRE-COMPUTED block is generated by application.py and passed to the model as the tool result. The model's only job is to copy it verbatim and add one insight sentence.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AML Policy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Retrieval-Augmented Generation over regulatory and compliance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5303520" cy="50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5303520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3898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Source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FFIEC BSA/AML Examination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87168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Wolfsberg Risk-Based Approach Guidance (2006, 2015,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6265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31 CFR Part 1010 — General BSA Provisions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3814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31 CFR Part 1020 — Rules for Banks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1363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FinCEN Advisory FIN-2014-A008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8912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FinCEN Guidance FIN-2010-G004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64608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BSA/AML Risk Assessment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4009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FFIEC Compliance Program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1558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• BsaAmlExamProcsPackage (4 volumes)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325880"/>
            <a:ext cx="603504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52160" y="1325880"/>
            <a:ext cx="6035040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138988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How RAG 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011680"/>
            <a:ext cx="5760720" cy="13258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60" y="2057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99"/>
                </a:solidFill>
              </a:rPr>
              <a:t>Ingest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395728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PDFs and DOCX chunked and embedded
using all-MiniLM-L6-v2 into ChromaDB
(241 chunks total)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429000"/>
            <a:ext cx="5760720" cy="13258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076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99"/>
                </a:solidFill>
              </a:rPr>
              <a:t>Retrieve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813048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User query embedded → top-8 semantically
similar chunks retrieved from ChromaDB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846320"/>
            <a:ext cx="5760720" cy="13258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5C99"/>
                </a:solidFill>
              </a:rPr>
              <a:t>Generate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230368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Retrieved chunks injected into model prompt.
Model cites source document by name.
If no relevant content found → disclaims
and provides general guidance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Training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How real customer data becomes fine-tuning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743200" cy="365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2743200" cy="6858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89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1
Customer 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57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1,090,815 account rows
↓
280,621 unique customers
Transaction metrics summed
across all accounts per 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325880"/>
            <a:ext cx="2743200" cy="365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325880"/>
            <a:ext cx="2743200" cy="6858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1389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2
SAR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057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4,835 alerted customers
10% SAR filing rate = 484 SARs
SAR score: logistic model on
alert amount, count, volume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2743200" cy="365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1325880"/>
            <a:ext cx="2743200" cy="6858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389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3
FN Injection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057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200 non-alerted customers
added as false negatives
(flew under current threshold)
Source: 20th–80th percentile
of alerted population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325880"/>
            <a:ext cx="2743200" cy="365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52560" y="1325880"/>
            <a:ext cx="2743200" cy="6858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1389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4
Alerts 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057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5,035 rows
FP=4,351 | FN=684
Individual=4,668 | Business=367
Used by all threshold
and segmentation tools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166360"/>
            <a:ext cx="11612880" cy="14173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230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From Data to Training Examples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Each training example is a complete conversation: system prompt → user query → tool call → tool result (PRE-COMPUTED) → correct assistant response. Examples cover threshold tuning, SAR backtest, clustering, segment stats, and policy Q&amp;A — with specific gap-fixing examples written after each round of production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Fine-Tuning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From general-purpose LLM to FRAML-specialised analytics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743200" cy="34747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274320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898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Base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Qwen 2.5 7B Instruct
(Unsloth 4-bit hub mirror)
General-purpose LLM
no FRAML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325880"/>
            <a:ext cx="2743200" cy="34747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325880"/>
            <a:ext cx="274320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13898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LoRA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Low-Rank Adaptation
R=16, Alpha=32
LR=2e-4, 100 steps
Vast.ai RTX 3090 Ti
~10 min per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2743200" cy="34747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1325880"/>
            <a:ext cx="274320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3898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GGUF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Merge LoRA → base
Convert to GGUF F16
Quantize to Q4_K_M
4.7 GB final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8C0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325880"/>
            <a:ext cx="2743200" cy="34747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52560" y="1325880"/>
            <a:ext cx="274320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13898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LM Studio
localhost:1234/v1
OpenAI-compatible API
8,192 token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29200"/>
            <a:ext cx="7680960" cy="15544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1023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Why LoRA?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LoRA fine-tunes only ~1% of model parameters (small adapter matrices) rather than the full 7B weights. Training is fast (~10 min on a single GPU) and reversible. Base model knowledge is preserved; adapters inject FRAML-specific behaviour.</a:t>
            </a:r>
          </a:p>
        </p:txBody>
      </p:sp>
      <p:pic>
        <p:nvPicPr>
          <p:cNvPr id="32" name="Picture 31" descr="lora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5029200"/>
            <a:ext cx="3749039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Iterative Improvement: V1 → 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Production testing drives continuous gap identification and training data expansion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743200" cy="3840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2743200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60 base examples
Initial FRAML behaviour
Basic tool calling
English-only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2377440" cy="6858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2519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10 gaps
identified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325880"/>
            <a:ext cx="2743200" cy="3840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1325880"/>
            <a:ext cx="2743200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+20 gap examples
80 total
Fixed: language, FP/FN
labels, threshold
direction, citations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4206240"/>
            <a:ext cx="2377440" cy="6858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42519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6 gaps
identified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325880"/>
            <a:ext cx="2743200" cy="3840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1325880"/>
            <a:ext cx="2743200" cy="5943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+36 gap examples
116 total
Fixed: V2 gaps +
SAR backtest tool
coverage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2377440" cy="6858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2519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11 gaps
identified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1325880"/>
            <a:ext cx="2743200" cy="38404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52560" y="1325880"/>
            <a:ext cx="2743200" cy="59436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0" y="1389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+47 gap examples
163 total
Fixed: commentary
control, cluster stats,
no fabricated thresholds,
policy citations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4206240"/>
            <a:ext cx="2377440" cy="6858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81160" y="42519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Testing
in progress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74920"/>
            <a:ext cx="11612880" cy="15087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51389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</a:rPr>
              <a:t>Gap Identification Process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After each training run: deploy model → run standard test prompts across all tools → document failures (wrong numbers, fabricated thresholds, unsolicited commentary) → write correct gold-standard examples → retrain. Each example shows the RIGHT answer only — the model learns by imitation, not by seeing its own mistakes.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Princeton Strategy Group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6E4F0"/>
                </a:solidFill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4356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Smart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Cluster Business customers into 4 groups
Identify highest-risk segment
Treemap visualisation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474720" cy="3200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47472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4356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Threshold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0116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FP/FN sweep for Individual AVG_TRXN_AMT
Crossover point analysis
SAR backtest at 90% catch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474720" cy="3200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474720" cy="5486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14356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Policy 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116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Query structuring detection policy
Citation from FFIEC Manual
KB disclaimer behaviour</a:t>
            </a:r>
          </a:p>
        </p:txBody>
      </p:sp>
      <p:pic>
        <p:nvPicPr>
          <p:cNvPr id="22" name="Picture 21" descr="cluste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337560"/>
            <a:ext cx="3200400" cy="1143000"/>
          </a:xfrm>
          <a:prstGeom prst="rect">
            <a:avLst/>
          </a:prstGeom>
        </p:spPr>
      </p:pic>
      <p:pic>
        <p:nvPicPr>
          <p:cNvPr id="23" name="Picture 22" descr="fp_f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337560"/>
            <a:ext cx="3200400" cy="1143000"/>
          </a:xfrm>
          <a:prstGeom prst="rect">
            <a:avLst/>
          </a:prstGeom>
        </p:spPr>
      </p:pic>
      <p:pic>
        <p:nvPicPr>
          <p:cNvPr id="24" name="Picture 23" descr="rag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3337560"/>
            <a:ext cx="3200400" cy="1143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371600" y="4846320"/>
            <a:ext cx="9144000" cy="14630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08760" y="4919472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2A4A"/>
                </a:solidFill>
              </a:rPr>
              <a:t>App running at http://127.0.0.1:5000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349240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Model: qwen-framl-v5  ·  LM Studio localhost:1234/v1  ·  Context: 8,192 tokens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1378</Words>
  <Application>Microsoft Office PowerPoint</Application>
  <PresentationFormat>Custom</PresentationFormat>
  <Paragraphs>162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srinivas peri</cp:lastModifiedBy>
  <cp:revision>3</cp:revision>
  <dcterms:created xsi:type="dcterms:W3CDTF">2013-01-27T09:14:16Z</dcterms:created>
  <dcterms:modified xsi:type="dcterms:W3CDTF">2026-03-31T02:10:27Z</dcterms:modified>
  <cp:category/>
</cp:coreProperties>
</file>