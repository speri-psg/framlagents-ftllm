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633" autoAdjust="0"/>
  </p:normalViewPr>
  <p:slideViewPr>
    <p:cSldViewPr snapToGrid="0" snapToObjects="1">
      <p:cViewPr varScale="1">
        <p:scale>
          <a:sx n="57" d="100"/>
          <a:sy n="57" d="100"/>
        </p:scale>
        <p:origin x="2634" y="2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3A204F-88C3-4320-AA5A-79DC85CA59A0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117610-FAF3-45E8-A0A8-EE0304BFDA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3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docs/ss_segmentation_data.csv — transaction features for all customers (the big 298MB file)                                                                                                                                    </a:t>
            </a:r>
          </a:p>
          <a:p>
            <a:r>
              <a:rPr lang="en-US" dirty="0"/>
              <a:t>2. docs/sar_simulation.csv — which customers were alerted and their </a:t>
            </a:r>
            <a:r>
              <a:rPr lang="en-US" dirty="0" err="1"/>
              <a:t>is_sar</a:t>
            </a:r>
            <a:r>
              <a:rPr lang="en-US" dirty="0"/>
              <a:t> label                                                                                                                                                  </a:t>
            </a:r>
          </a:p>
          <a:p>
            <a:r>
              <a:rPr lang="en-US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en-US" dirty="0"/>
              <a:t>build_alerts_csv.py joins them on </a:t>
            </a:r>
            <a:r>
              <a:rPr lang="en-US" dirty="0" err="1"/>
              <a:t>customer_id</a:t>
            </a:r>
            <a:r>
              <a:rPr lang="en-US" dirty="0"/>
              <a:t>, keeping only alerted customers, then stamps ALERT=Yes, FP=Yes where </a:t>
            </a:r>
            <a:r>
              <a:rPr lang="en-US" dirty="0" err="1"/>
              <a:t>is_sar</a:t>
            </a:r>
            <a:r>
              <a:rPr lang="en-US" dirty="0"/>
              <a:t>=0, and FN=Yes where </a:t>
            </a:r>
            <a:r>
              <a:rPr lang="en-US" dirty="0" err="1"/>
              <a:t>is_sar</a:t>
            </a:r>
            <a:r>
              <a:rPr lang="en-US" dirty="0"/>
              <a:t>=1. The output is docs/custs_accts_txns_alerts.csv.                           </a:t>
            </a:r>
          </a:p>
          <a:p>
            <a:endParaRPr lang="en-US" dirty="0"/>
          </a:p>
          <a:p>
            <a:r>
              <a:rPr lang="en-US" dirty="0"/>
              <a:t>The pipeline: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en-US" dirty="0"/>
              <a:t>  1. Start with all alerted customers from real alert data                                                                                                                                                                          </a:t>
            </a:r>
          </a:p>
          <a:p>
            <a:r>
              <a:rPr lang="en-US" dirty="0"/>
              <a:t>  2. Compute a </a:t>
            </a:r>
            <a:r>
              <a:rPr lang="en-US" dirty="0" err="1"/>
              <a:t>sar_score</a:t>
            </a:r>
            <a:r>
              <a:rPr lang="en-US" dirty="0"/>
              <a:t> using a weighted formula (alert amount, alert count, transaction volume, frequency + noise)                                                                                                                </a:t>
            </a:r>
          </a:p>
          <a:p>
            <a:r>
              <a:rPr lang="en-US" dirty="0"/>
              <a:t>  3. Set </a:t>
            </a:r>
            <a:r>
              <a:rPr lang="en-US" dirty="0" err="1"/>
              <a:t>is_sar</a:t>
            </a:r>
            <a:r>
              <a:rPr lang="en-US" dirty="0"/>
              <a:t>=1 for the top 10% by </a:t>
            </a:r>
            <a:r>
              <a:rPr lang="en-US" dirty="0" err="1"/>
              <a:t>sar_score</a:t>
            </a:r>
            <a:r>
              <a:rPr lang="en-US" dirty="0"/>
              <a:t> (the SAR_RATE = 0.10 threshold) — so the </a:t>
            </a:r>
            <a:r>
              <a:rPr lang="en-US" dirty="0" err="1"/>
              <a:t>sar_score</a:t>
            </a:r>
            <a:r>
              <a:rPr lang="en-US" dirty="0"/>
              <a:t> threshold is the 90th percentile, not a fixed dollar amount                                                                       </a:t>
            </a:r>
          </a:p>
          <a:p>
            <a:r>
              <a:rPr lang="en-US" dirty="0"/>
              <a:t>  4. </a:t>
            </a:r>
            <a:r>
              <a:rPr lang="en-US" dirty="0" err="1"/>
              <a:t>is_sar</a:t>
            </a:r>
            <a:r>
              <a:rPr lang="en-US" dirty="0"/>
              <a:t>=0 → FP (alerted but not truly suspicious)                                                                                                                                                                               </a:t>
            </a:r>
          </a:p>
          <a:p>
            <a:r>
              <a:rPr lang="en-US" dirty="0"/>
              <a:t>  5. </a:t>
            </a:r>
            <a:r>
              <a:rPr lang="en-US" dirty="0" err="1"/>
              <a:t>is_sar</a:t>
            </a:r>
            <a:r>
              <a:rPr lang="en-US" dirty="0"/>
              <a:t>=1 → TP at the lowest threshold</a:t>
            </a:r>
          </a:p>
          <a:p>
            <a:endParaRPr lang="en-US" dirty="0"/>
          </a:p>
          <a:p>
            <a:r>
              <a:rPr lang="en-US" dirty="0"/>
              <a:t>  On FNs — this is the key point:</a:t>
            </a:r>
          </a:p>
          <a:p>
            <a:endParaRPr lang="en-US" dirty="0"/>
          </a:p>
          <a:p>
            <a:r>
              <a:rPr lang="en-US" dirty="0"/>
              <a:t>  All customers in this dataset were alerted. There are no true FNs in the raw data because un-alerted customers aren't in the file at all.</a:t>
            </a:r>
          </a:p>
          <a:p>
            <a:endParaRPr lang="en-US" dirty="0"/>
          </a:p>
          <a:p>
            <a:r>
              <a:rPr lang="en-US" dirty="0"/>
              <a:t>  FNs are simulated — as you raise the sweep threshold (e.g. AVG_TRXN_AMT &gt; $500k), some </a:t>
            </a:r>
            <a:r>
              <a:rPr lang="en-US" dirty="0" err="1"/>
              <a:t>is_sar</a:t>
            </a:r>
            <a:r>
              <a:rPr lang="en-US" dirty="0"/>
              <a:t>=1 customers fall below it and would stop being alerted. Those become FNs. It's asking: "if we had set a higher threshold originally,</a:t>
            </a:r>
          </a:p>
          <a:p>
            <a:r>
              <a:rPr lang="en-US" dirty="0"/>
              <a:t>   which real SARs would we have missed?“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7610-FAF3-45E8-A0A8-EE0304BFDA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08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88952" cy="73152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FRAML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D6E4F0"/>
                </a:solidFill>
              </a:rPr>
              <a:t>Smart Segmentation  ·  Threshold Tuning  ·  AML </a:t>
            </a:r>
            <a:r>
              <a:rPr lang="en-US" sz="2000" b="0" dirty="0">
                <a:solidFill>
                  <a:srgbClr val="D6E4F0"/>
                </a:solidFill>
              </a:rPr>
              <a:t>P&amp;P</a:t>
            </a:r>
            <a:r>
              <a:rPr sz="2000" b="0" dirty="0">
                <a:solidFill>
                  <a:srgbClr val="D6E4F0"/>
                </a:solidFill>
              </a:rPr>
              <a:t>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Princeton Strategy Group</a:t>
            </a:r>
            <a:endParaRPr sz="1600" b="0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E4F0"/>
                </a:solidFill>
              </a:rPr>
              <a:t>March 2026  |  Confidential</a:t>
            </a:r>
          </a:p>
        </p:txBody>
      </p:sp>
      <p:pic>
        <p:nvPicPr>
          <p:cNvPr id="8" name="Picture 7" descr="neural_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794" y="3598622"/>
            <a:ext cx="4979406" cy="27564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0"/>
                </a:solidFill>
              </a:rPr>
              <a:t>Component overview and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6E4F0"/>
                </a:solidFill>
              </a:rPr>
              <a:t>Princeton Strategy Group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6019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6E4F0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05756" y="1234440"/>
            <a:ext cx="2377440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1F5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5756" y="125272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5C99"/>
                </a:solidFill>
              </a:rPr>
              <a:t>User  /  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7316" y="16367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8C00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1856231"/>
            <a:ext cx="9445752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1F5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71600" y="1874519"/>
            <a:ext cx="94457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5C99"/>
                </a:solidFill>
              </a:rPr>
              <a:t>Dash Web Application   (Flask  ·  Chat UI  ·  Side-panel quick prompts)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7316" y="2331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8C00"/>
                </a:solidFill>
              </a:rPr>
              <a:t>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08476" y="2551176"/>
            <a:ext cx="4572000" cy="475488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08476" y="2569464"/>
            <a:ext cx="4572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Orchestrator Agent   (intent routing  ·  agent dispatch)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19" y="3145536"/>
            <a:ext cx="8257031" cy="4572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71616" y="3026664"/>
            <a:ext cx="45720" cy="118872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851660" y="3145536"/>
            <a:ext cx="45720" cy="9144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76188" y="3145536"/>
            <a:ext cx="45720" cy="9144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108692" y="3145536"/>
            <a:ext cx="45720" cy="9144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3236976"/>
            <a:ext cx="3200400" cy="14173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3236976"/>
            <a:ext cx="3200400" cy="475488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3255264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Threshold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79" y="376732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threshold_tuning
sar_backtest
segment_stats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98848" y="3236976"/>
            <a:ext cx="3200400" cy="14173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98848" y="3236976"/>
            <a:ext cx="3200400" cy="475488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90288" y="3255264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Segmentation 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8" y="376732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ss_cluster_analysis
alerts_distribution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31352" y="3236976"/>
            <a:ext cx="3200400" cy="14173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531352" y="3236976"/>
            <a:ext cx="3200400" cy="475488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22792" y="3255264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Policy 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76732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ChromaDB RAG
11 AML docs  ·  241 chunks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467258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C00"/>
                </a:solidFill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467258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C00"/>
                </a:solidFill>
              </a:rPr>
              <a:t>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94392" y="467258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C00"/>
                </a:solidFill>
              </a:rPr>
              <a:t>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864608"/>
            <a:ext cx="7424927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1F5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4320" y="4882896"/>
            <a:ext cx="7424927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B2A4A"/>
                </a:solidFill>
              </a:rPr>
              <a:t>Alerts CSV   (5,035 rows  ·  customer transaction aggregates  ·  FP / FN labels)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31352" y="4864608"/>
            <a:ext cx="320040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1F5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31352" y="4882896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2A4A"/>
                </a:solidFill>
              </a:rPr>
              <a:t>ChromaDB   (vector store
all-MiniLM-L6-v2 embeddings)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535838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C00"/>
                </a:solidFill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4392" y="535838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C00"/>
                </a:solidFill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550408"/>
            <a:ext cx="11640312" cy="8412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7200" y="5596128"/>
            <a:ext cx="1127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8C00"/>
                </a:solidFill>
              </a:rPr>
              <a:t>Fine-Tuned Language Model  —  qwen-framl-v5   (Q4_K_M GGUF  ·  LM Studio  ·  localhost:1234/v1)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943600"/>
            <a:ext cx="1127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E4F0"/>
                </a:solidFill>
              </a:rPr>
              <a:t>Qwen 2.5 7B Instruct  ·  LoRA fine-tuned on 189 FRAML examples  ·  8,192 token context  ·  Serves all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0"/>
                </a:solidFill>
              </a:rPr>
              <a:t>End-to-end architecture: from user query to analytical insight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6E4F0"/>
                </a:solidFill>
              </a:rPr>
              <a:t>Princeton Strategy Group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6019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6E4F0"/>
                </a:solidFill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3291840" cy="25603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99"/>
                </a:solidFill>
              </a:rPr>
              <a:t>User Interface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116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Dash web app
Chat interface
Side-panel quick prompts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291840" cy="25603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14630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99"/>
                </a:solidFill>
              </a:rPr>
              <a:t>Orchestrator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116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Intent routing
Query classification
Multi-agent coordination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291840" cy="25603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14630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99"/>
                </a:solidFill>
              </a:rPr>
              <a:t>Agents +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Threshold Agent  →  threshold_tuning / sar_backtest
Segmentation Agent  →  ss_cluster_analysis / alerts_distribution
Policy Agent  →  ChromaDB RAG 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4206240"/>
            <a:ext cx="9144000" cy="1371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63040" y="429768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C99"/>
                </a:solidFill>
              </a:rPr>
              <a:t>Fine-Tuned Language Model (qwen-framl-v5  ·  Q4_K_M GGUF  ·  LM Studio API)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75488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Qwen 2.5 7B Instruct base  ·  LoRA fine-tuned on 189 FRAML examples  ·  8,192 token context  ·  localhost:1234/v1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931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04040"/>
                </a:solidFill>
              </a:rPr>
              <a:t>↓  API calls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Three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0"/>
                </a:solidFill>
              </a:rPr>
              <a:t>Specialised AI agents, each with their own tools and system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6E4F0"/>
                </a:solidFill>
              </a:rPr>
              <a:t>Princeton Strategy Group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6019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6E4F0"/>
                </a:solidFill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3749039" cy="5029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325880"/>
            <a:ext cx="3749039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1389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Threshold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Analyses FP/FN trade-offs as alert thresholds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Tools: threshold_tuning, sar_backtest, segment_stats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2336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Returns PRE-COMPUTED sweep tables — model copies verbatim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Covers Business and Individual segments across 3 threshold columns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1325880"/>
            <a:ext cx="3749039" cy="5029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51959" y="1325880"/>
            <a:ext cx="3749039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9120" y="1389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Segmentation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0116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K-Means clustering of customer behavioural profiles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0175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Tools: ss_cluster_analysis, alerts_distribution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02336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Identifies high-risk clusters by transaction frequency and volume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0292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Renders treemap and scatter visualisations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325880"/>
            <a:ext cx="3749039" cy="5029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9600" y="1325880"/>
            <a:ext cx="3749039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66760" y="1389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Policy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0116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Retrieval-Augmented Generation over AML policy documents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0175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ChromaDB knowledge base: 11 docs, 241 chunks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2336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Sources: FFIEC Manual, Wolfsberg Guidance, 31 CFR Parts 1010/1020, FinCEN advisories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0292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• Cites source documents; disclaims when KB has no relevant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Tool Interaction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0"/>
                </a:solidFill>
              </a:rPr>
              <a:t>How the model calls tools and generates accurate, grounded responses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6E4F0"/>
                </a:solidFill>
              </a:rPr>
              <a:t>Princeton Strategy Group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6019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6E4F0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2468880" cy="4114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325880"/>
            <a:ext cx="246888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138988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1  User 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2286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"What threshold gives a 90%
SAR catch rate for Individual
monthly transaction amount?"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325880"/>
            <a:ext cx="2468880" cy="4114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34640" y="1325880"/>
            <a:ext cx="246888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80" y="138988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2  Agent selects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1920240"/>
            <a:ext cx="2286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Threshold Agent identifies:
sar_backtest(
  segment=Individual,
  threshold_column=
  TRXN_AMT_MONTHLY
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1325880"/>
            <a:ext cx="2468880" cy="4114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94960" y="1325880"/>
            <a:ext cx="246888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0" y="138988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3  Tool executes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1920240"/>
            <a:ext cx="2286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Python computes sweep against
real customer data.
Returns PRE-COMPUTED block
with exact numbers.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1325880"/>
            <a:ext cx="2468880" cy="4114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55279" y="1325880"/>
            <a:ext cx="246888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19" y="138988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4  Model responds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9" y="1920240"/>
            <a:ext cx="2286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Copies PRE-COMPUTED block
verbatim. Adds ONE sentence
of AML insight. Stops.
No hallucinated numbers.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3108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3108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108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623560"/>
            <a:ext cx="11612880" cy="7772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6875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2A4A"/>
                </a:solidFill>
              </a:rPr>
              <a:t>Key design principle: the model never computes numbers — Python does. The PRE-COMPUTED block is generated by application.py and passed to the model as the tool result. The model's only job is to copy it verbatim and add one insight sentence.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AML Policy Knowledge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0"/>
                </a:solidFill>
              </a:rPr>
              <a:t>Retrieval-Augmented Generation over regulatory and compliance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6E4F0"/>
                </a:solidFill>
              </a:rPr>
              <a:t>Princeton Strategy Group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6019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6E4F0"/>
                </a:solidFill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5303520" cy="5029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325880"/>
            <a:ext cx="5303520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138988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Source 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01168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• FFIEC BSA/AML Examination Manual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487168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• Wolfsberg Risk-Based Approach Guidance (2006, 2015,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6265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• 31 CFR Part 1010 — General BSA Provisions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438144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• 31 CFR Part 1020 — Rules for Banks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13632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• FinCEN Advisory FIN-2014-A008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38912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• FinCEN Guidance FIN-2010-G004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64608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• BSA/AML Risk Assessment Framework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4009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• FFIEC Compliance Program Assessment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15584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• BsaAmlExamProcsPackage (4 volumes)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1325880"/>
            <a:ext cx="603504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52160" y="1325880"/>
            <a:ext cx="6035040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89320" y="1389888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How RAG 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2011680"/>
            <a:ext cx="5760720" cy="13258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80760" y="2057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C99"/>
                </a:solidFill>
              </a:rPr>
              <a:t>Ingest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395728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PDFs and DOCX chunked and embedded
using all-MiniLM-L6-v2 into ChromaDB
(241 chunks total)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3429000"/>
            <a:ext cx="5760720" cy="13258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8076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C99"/>
                </a:solidFill>
              </a:rPr>
              <a:t>Retrieve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3813048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User query embedded → top-8 semantically
similar chunks retrieved from ChromaDB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4846320"/>
            <a:ext cx="5760720" cy="13258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0760" y="4892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C99"/>
                </a:solidFill>
              </a:rPr>
              <a:t>Generate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230368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Retrieved chunks injected into model prompt.
Model cites source document by name.
If no relevant content found → disclaims
and provides general guidance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Training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0"/>
                </a:solidFill>
              </a:rPr>
              <a:t>How real customer data becomes fine-tuning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6E4F0"/>
                </a:solidFill>
              </a:rPr>
              <a:t>Princeton Strategy Group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6019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6E4F0"/>
                </a:solidFill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2743200" cy="3657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325880"/>
            <a:ext cx="2743200" cy="68580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13898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Step 1
Customer 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574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1,090,815 account rows
↓
280,621 unique customers
Transaction metrics summed
across all accounts per customer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325880"/>
            <a:ext cx="2743200" cy="3657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1325880"/>
            <a:ext cx="2743200" cy="68580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91840" y="13898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Step 2
SAR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0574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4,835 alerted customers
10% SAR filing rate = 484 SARs
SAR score: logistic model on
alert amount, count, volume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325880"/>
            <a:ext cx="2743200" cy="3657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26480" y="1325880"/>
            <a:ext cx="2743200" cy="68580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0" y="13898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Step 3
FN Injection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0574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200 non-alerted customers
added as false negatives
(flew under current threshold)
Source: 20th–80th percentile
of alerted population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325880"/>
            <a:ext cx="2743200" cy="3657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52560" y="1325880"/>
            <a:ext cx="2743200" cy="68580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0" y="13898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Step 4
Alerts 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0574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5,035 rows
FP=4,351 | FN=684
Individual=4,668 | Business=367
Used by all threshold
and segmentation tools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166360"/>
            <a:ext cx="11612880" cy="14173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23036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From Data to Training Examples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Each training example is a complete conversation: system prompt → user query → tool call → tool result (PRE-COMPUTED) → correct assistant response. Examples cover threshold tuning, SAR backtest, clustering, segment stats, and policy Q&amp;A — with specific gap-fixing examples written after each round of production testing.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Fine-Tuning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0"/>
                </a:solidFill>
              </a:rPr>
              <a:t>From general-purpose LLM to FRAML-specialised analytics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6E4F0"/>
                </a:solidFill>
              </a:rPr>
              <a:t>Princeton Strategy Group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6019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6E4F0"/>
                </a:solidFill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2743200" cy="34747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325880"/>
            <a:ext cx="274320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1389888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Base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Qwen 2.5 7B Instruct
(Unsloth 4-bit hub mirror)
General-purpose LLM
no FRAML knowledge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325880"/>
            <a:ext cx="2743200" cy="34747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1325880"/>
            <a:ext cx="274320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91840" y="1389888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LoRA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92024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Low-Rank Adaptation
R=16, Alpha=32
LR=2e-4, 100 steps
Vast.ai RTX 3090 Ti
~10 min per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325880"/>
            <a:ext cx="2743200" cy="34747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26480" y="1325880"/>
            <a:ext cx="274320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0" y="1389888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GGUF 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92024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Merge LoRA → base
Convert to GGUF F16
Quantize to Q4_K_M
4.7 GB final 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8C00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325880"/>
            <a:ext cx="2743200" cy="34747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52560" y="1325880"/>
            <a:ext cx="274320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0" y="1389888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92024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LM Studio
localhost:1234/v1
OpenAI-compatible API
8,192 token context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029200"/>
            <a:ext cx="7680960" cy="15544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10235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Why LoRA?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48640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LoRA fine-tunes only ~1% of model parameters (small adapter matrices) rather than the full 7B weights. Training is fast (~10 min on a single GPU) and reversible. Base model knowledge is preserved; adapters inject FRAML-specific behaviour.</a:t>
            </a:r>
          </a:p>
        </p:txBody>
      </p:sp>
      <p:pic>
        <p:nvPicPr>
          <p:cNvPr id="32" name="Picture 31" descr="lora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5029200"/>
            <a:ext cx="3749039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Iterative Improvement: V1 → V4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0"/>
                </a:solidFill>
              </a:rPr>
              <a:t>Production testing drives continuous gap identification and training data expansion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6E4F0"/>
                </a:solidFill>
              </a:rPr>
              <a:t>Princeton Strategy Group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6019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6E4F0"/>
                </a:solidFill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2743200" cy="3840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325880"/>
            <a:ext cx="2743200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138988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60 base examples
Initial FRAML behaviour
Basic tool calling
English-only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2377440" cy="68580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10 gaps
identified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325880"/>
            <a:ext cx="2743200" cy="3840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0" y="1325880"/>
            <a:ext cx="2743200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91840" y="138988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0116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+20 gap examples
80 total
Fixed: language, FP/FN
labels, threshold
direction, citations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4206240"/>
            <a:ext cx="2377440" cy="68580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29000" y="425196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6 gaps
identified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325880"/>
            <a:ext cx="2743200" cy="3840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26480" y="1325880"/>
            <a:ext cx="2743200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138988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V3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0116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+36 gap examples
116 total
Fixed: V2 gaps +
SAR backtest tool
coverage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206240"/>
            <a:ext cx="2377440" cy="68580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425196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11 gaps
identified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1325880"/>
            <a:ext cx="2743200" cy="3840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52560" y="1325880"/>
            <a:ext cx="2743200" cy="59436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0" y="138988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V4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0116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+47 gap examples
163 total
Fixed: commentary
control, cluster stats,
no fabricated thresholds,
policy citations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4206240"/>
            <a:ext cx="2377440" cy="68580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81160" y="425196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Testing
in 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074920"/>
            <a:ext cx="11612880" cy="15087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513892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Gap Identification Process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After each training run: deploy model → run standard test prompts across all tools → document failures (wrong numbers, fabricated thresholds, unsolicited commentary) → write correct gold-standard examples → retrain. Each example shows the RIGHT answer only — the model learns by imitation, not by seeing its own mistakes.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88952" cy="54864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6E4F0"/>
                </a:solidFill>
              </a:rPr>
              <a:t>Princeton Strategy Group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6019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6E4F0"/>
                </a:solidFill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3474720" cy="32004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347472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435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Smart 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011680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Cluster Business customers into 4 groups
Identify highest-risk segment
Treemap visualisation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371600"/>
            <a:ext cx="3474720" cy="32004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347472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34840" y="1435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Threshold 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FP/FN sweep for Individual AVG_TRXN_AMT
Crossover point analysis
SAR backtest at 90% catch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371600"/>
            <a:ext cx="3474720" cy="32004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8160" y="1371600"/>
            <a:ext cx="3474720" cy="54864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20" y="1435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Policy Q&amp;A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011680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Query structuring detection policy
Citation from FFIEC Manual
KB disclaimer behaviour</a:t>
            </a:r>
          </a:p>
        </p:txBody>
      </p:sp>
      <p:pic>
        <p:nvPicPr>
          <p:cNvPr id="22" name="Picture 21" descr="cluste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337560"/>
            <a:ext cx="3200400" cy="1143000"/>
          </a:xfrm>
          <a:prstGeom prst="rect">
            <a:avLst/>
          </a:prstGeom>
        </p:spPr>
      </p:pic>
      <p:pic>
        <p:nvPicPr>
          <p:cNvPr id="23" name="Picture 22" descr="fp_fn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3337560"/>
            <a:ext cx="3200400" cy="1143000"/>
          </a:xfrm>
          <a:prstGeom prst="rect">
            <a:avLst/>
          </a:prstGeom>
        </p:spPr>
      </p:pic>
      <p:pic>
        <p:nvPicPr>
          <p:cNvPr id="24" name="Picture 23" descr="rag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337560"/>
            <a:ext cx="3200400" cy="1143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371600" y="4846320"/>
            <a:ext cx="9144000" cy="14630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508760" y="4919472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B2A4A"/>
                </a:solidFill>
              </a:rPr>
              <a:t>App running at http://127.0.0.1:5000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349240"/>
            <a:ext cx="8869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04040"/>
                </a:solidFill>
              </a:rPr>
              <a:t>Model: qwen-framl-v5  ·  LM Studio localhost:1234/v1  ·  Context: 8,192 tokens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1705</Words>
  <Application>Microsoft Office PowerPoint</Application>
  <PresentationFormat>Custom</PresentationFormat>
  <Paragraphs>181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srinivas peri</cp:lastModifiedBy>
  <cp:revision>4</cp:revision>
  <dcterms:created xsi:type="dcterms:W3CDTF">2013-01-27T09:14:16Z</dcterms:created>
  <dcterms:modified xsi:type="dcterms:W3CDTF">2026-03-31T20:15:33Z</dcterms:modified>
  <cp:category/>
</cp:coreProperties>
</file>